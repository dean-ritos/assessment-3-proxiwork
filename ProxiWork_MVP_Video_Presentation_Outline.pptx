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0:00–0:30. Introduce ProxiWork and the presentation. Keep the opening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0:30–1:10. Tie the business problem to the original Assessment 1 user needs.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1:10–3:10. Live demo: show only real, working features in the deployed app. Narrate the user journey.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3:10–4:30. Demonstrate the employer-side workflow only where supported by the deployed app.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4:30–6:10. Trace one real data operation. Verify whether it goes through FastAPI or directly to Supabase. Show the corresponding record and retrieval.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6:10–6:55. Compare against Assessment 1 using evidence such as screenshots, commits or working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6:55–8:15. Explain specific risks that could arise in this app; avoid asserting unverified vulnerabilities as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8:15–9:30. Discuss code review, tests, maintainability and conventional engineering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9:30–11:00. Discuss privacy, authentication, RLS, storage and accuracy. Separate implemented controls from proposed mitigations.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11:00–12:35. Evaluate the MVP honestly and identify future development priorities.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12:35–13:15. Conclude. Leave buffer for transitions and any extended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778240" y="640080"/>
            <a:ext cx="2468880" cy="2468880"/>
          </a:xfrm>
          <a:prstGeom prst="round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84080" y="2834640"/>
            <a:ext cx="1645920" cy="1645920"/>
          </a:xfrm>
          <a:prstGeom prst="round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38160" y="4114800"/>
            <a:ext cx="2011680" cy="1188720"/>
          </a:xfrm>
          <a:prstGeom prst="roundRect">
            <a:avLst/>
          </a:prstGeom>
          <a:solidFill>
            <a:srgbClr val="2040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71323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48B1D2"/>
                </a:solidFill>
                <a:latin typeface="Aptos"/>
              </a:defRPr>
            </a:pPr>
            <a:r>
              <a:t>ASSESSMENT 3  •  MVP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6949440" cy="114300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Aptos"/>
              </a:defRPr>
            </a:pPr>
            <a:r>
              <a:t>ProxiWork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560320"/>
            <a:ext cx="68580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500" b="0">
                <a:solidFill>
                  <a:srgbClr val="D0E0F4"/>
                </a:solidFill>
                <a:latin typeface="Aptos"/>
              </a:defRPr>
            </a:pPr>
            <a:r>
              <a:t>Local jobs, real connections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6766560" cy="10058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800" b="0">
                <a:solidFill>
                  <a:srgbClr val="FFFFFF"/>
                </a:solidFill>
                <a:latin typeface="Aptos"/>
              </a:defRPr>
            </a:pPr>
            <a:r>
              <a:t>Business use case • Technical architecture • AI-assisted development • Ethics &amp; cybersecurity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080760"/>
            <a:ext cx="54864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48B1D2"/>
                </a:solidFill>
                <a:latin typeface="Aptos"/>
              </a:defRPr>
            </a:pPr>
            <a:r>
              <a:t>Target runtime: 13–15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01 • BUSINESS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Introduce the original need from Assessment 1 and explain how ProxiWork responds.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0:30–1:10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3474720" cy="21031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73152" cy="210312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JOB SEEKERS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95728"/>
            <a:ext cx="3127248" cy="1444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Need a simpler way to discover local casual, part-time and short-term opportunities.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474720" cy="21031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210312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EMPLOYERS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95728"/>
            <a:ext cx="3127248" cy="1444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Need a practical way to present opportunities and connect with potential candidates.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474720" cy="21031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73152" cy="210312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MVP OBJECTIVE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95728"/>
            <a:ext cx="3127248" cy="14447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Validate the core two-sided workflow with a working, deployed application.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17720"/>
            <a:ext cx="1078992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637386"/>
                </a:solidFill>
                <a:latin typeface="Aptos"/>
              </a:defRPr>
            </a:pPr>
            <a:r>
              <a:t>Presentation cue: connect each objective to the specific requirements and user needs documented in Assessment 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02 •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Job-seeker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Open the deployed MVP and narrate the real workflow from start to finish.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1:10–3:10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1188720" y="1874519"/>
            <a:ext cx="566928" cy="566928"/>
          </a:xfrm>
          <a:prstGeom prst="ellipse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1783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132748"/>
                </a:solidFill>
                <a:latin typeface="Aptos"/>
              </a:defRPr>
            </a:pPr>
            <a:r>
              <a:t>Open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90672"/>
            <a:ext cx="1783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37386"/>
                </a:solidFill>
                <a:latin typeface="Aptos"/>
              </a:defRPr>
            </a:pPr>
            <a:r>
              <a:t>Landing page and navigation</a:t>
            </a:r>
          </a:p>
        </p:txBody>
      </p:sp>
      <p:sp>
        <p:nvSpPr>
          <p:cNvPr id="11" name="Oval 10"/>
          <p:cNvSpPr/>
          <p:nvPr/>
        </p:nvSpPr>
        <p:spPr>
          <a:xfrm>
            <a:off x="3520439" y="1874519"/>
            <a:ext cx="566928" cy="566928"/>
          </a:xfrm>
          <a:prstGeom prst="ellipse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79" y="2651760"/>
            <a:ext cx="1783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132748"/>
                </a:solidFill>
                <a:latin typeface="Aptos"/>
              </a:defRPr>
            </a:pPr>
            <a:r>
              <a:t>Access account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3090672"/>
            <a:ext cx="1783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37386"/>
                </a:solidFill>
                <a:latin typeface="Aptos"/>
              </a:defRPr>
            </a:pPr>
            <a:r>
              <a:t>Sign-up / login if implemented</a:t>
            </a:r>
          </a:p>
        </p:txBody>
      </p:sp>
      <p:sp>
        <p:nvSpPr>
          <p:cNvPr id="14" name="Oval 13"/>
          <p:cNvSpPr/>
          <p:nvPr/>
        </p:nvSpPr>
        <p:spPr>
          <a:xfrm>
            <a:off x="5852160" y="1874519"/>
            <a:ext cx="566928" cy="566928"/>
          </a:xfrm>
          <a:prstGeom prst="ellipse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651760"/>
            <a:ext cx="1783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132748"/>
                </a:solidFill>
                <a:latin typeface="Aptos"/>
              </a:defRPr>
            </a:pPr>
            <a:r>
              <a:t>Profile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090672"/>
            <a:ext cx="1783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37386"/>
                </a:solidFill>
                <a:latin typeface="Aptos"/>
              </a:defRPr>
            </a:pPr>
            <a:r>
              <a:t>Enter or review user information</a:t>
            </a:r>
          </a:p>
        </p:txBody>
      </p:sp>
      <p:sp>
        <p:nvSpPr>
          <p:cNvPr id="17" name="Oval 16"/>
          <p:cNvSpPr/>
          <p:nvPr/>
        </p:nvSpPr>
        <p:spPr>
          <a:xfrm>
            <a:off x="8183879" y="1874519"/>
            <a:ext cx="566928" cy="566928"/>
          </a:xfrm>
          <a:prstGeom prst="ellipse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651760"/>
            <a:ext cx="1783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132748"/>
                </a:solidFill>
                <a:latin typeface="Aptos"/>
              </a:defRPr>
            </a:pPr>
            <a:r>
              <a:t>Discover jobs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19" y="3090672"/>
            <a:ext cx="1783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37386"/>
                </a:solidFill>
                <a:latin typeface="Aptos"/>
              </a:defRPr>
            </a:pPr>
            <a:r>
              <a:t>Browse or search available jobs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1874519"/>
            <a:ext cx="566928" cy="566928"/>
          </a:xfrm>
          <a:prstGeom prst="ellipse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921240" y="2651760"/>
            <a:ext cx="1783080" cy="3474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600" b="1">
                <a:solidFill>
                  <a:srgbClr val="132748"/>
                </a:solidFill>
                <a:latin typeface="Aptos"/>
              </a:defRPr>
            </a:pPr>
            <a:r>
              <a:t>Next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090672"/>
            <a:ext cx="178308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ctr">
              <a:defRPr sz="1200" b="0">
                <a:solidFill>
                  <a:srgbClr val="637386"/>
                </a:solidFill>
                <a:latin typeface="Aptos"/>
              </a:defRPr>
            </a:pPr>
            <a:r>
              <a:t>Apply or continue only if supported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572000"/>
            <a:ext cx="10652760" cy="9601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572000"/>
            <a:ext cx="73152" cy="960120"/>
          </a:xfrm>
          <a:prstGeom prst="rect">
            <a:avLst/>
          </a:prstGeom>
          <a:solidFill>
            <a:srgbClr val="DB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727448"/>
            <a:ext cx="1030528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LIVE DEMO REMINDER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" y="5138928"/>
            <a:ext cx="10305288" cy="30175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Demonstrate only features that work in the deployed build. If something is incomplete, call it out as a limitation.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02 • LIVE 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Employer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Show how the employer side complements the job-seeker experience.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3:10–4:30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3474720" cy="192024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828800"/>
            <a:ext cx="73152" cy="192024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EMPLOYER PAGES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127248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frontend/src/pages/employer-pages.tsx</a:t>
            </a:r>
            <a:br/>
            <a:br/>
            <a:r>
              <a:t>Show the actual employer navigation and available screens.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474720" cy="192024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192024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EMPLOYER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95728"/>
            <a:ext cx="3127248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frontend/src/services/employer.ts</a:t>
            </a:r>
            <a:br/>
            <a:br/>
            <a:r>
              <a:t>Explain the relevant operations visible in the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828800"/>
            <a:ext cx="3474720" cy="192024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828800"/>
            <a:ext cx="73152" cy="192024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6448" y="1984248"/>
            <a:ext cx="312724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2395728"/>
            <a:ext cx="3127248" cy="126187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Show job creation or management only if implemented; explain how it supports the two-sided platform.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637386"/>
                </a:solidFill>
                <a:latin typeface="Aptos"/>
              </a:defRPr>
            </a:pPr>
            <a:r>
              <a:t>Narration: explain what the employer can do, what data is involved, and where the workflow is incomplete or still needs testing.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03 • TECHNICAL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Architecture and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Use one real transaction to prove how front-end data is stored and retrieved.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4:30–6:10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74519"/>
            <a:ext cx="274320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874519"/>
            <a:ext cx="73152" cy="150876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2029967"/>
            <a:ext cx="23957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FRONT 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441448"/>
            <a:ext cx="2395728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React + Vite + Tailwind</a:t>
            </a:r>
            <a:br/>
            <a:r>
              <a:t>Pages and service functions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09160" y="1874519"/>
            <a:ext cx="274320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09160" y="1874519"/>
            <a:ext cx="73152" cy="150876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10328" y="2029967"/>
            <a:ext cx="23957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10328" y="2441448"/>
            <a:ext cx="2395728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backend/api/index.py</a:t>
            </a:r>
            <a:br/>
            <a:r>
              <a:t>API processing where used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874519"/>
            <a:ext cx="2743200" cy="150876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823960" y="1874519"/>
            <a:ext cx="73152" cy="150876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2029967"/>
            <a:ext cx="23957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SUPABASE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441448"/>
            <a:ext cx="2395728" cy="85039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Database, authentication or storage where configured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83280" y="2606040"/>
            <a:ext cx="1234440" cy="0"/>
          </a:xfrm>
          <a:prstGeom prst="line">
            <a:avLst/>
          </a:prstGeom>
          <a:ln w="25400">
            <a:solidFill>
              <a:srgbClr val="266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498079" y="2606040"/>
            <a:ext cx="1234441" cy="0"/>
          </a:xfrm>
          <a:prstGeom prst="line">
            <a:avLst/>
          </a:prstGeom>
          <a:ln w="25400">
            <a:solidFill>
              <a:srgbClr val="2668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3840480"/>
            <a:ext cx="512064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73445"/>
                </a:solidFill>
                <a:latin typeface="Aptos"/>
              </a:defRPr>
            </a:pPr>
            <a:r>
              <a:t>CODE LOCATIONS</a:t>
            </a:r>
            <a:br/>
            <a:r>
              <a:t>• frontend/src/lib/supabase.ts</a:t>
            </a:r>
            <a:br/>
            <a:r>
              <a:t>• frontend/src/services/profile.ts, jobs.ts, employer.ts</a:t>
            </a:r>
            <a:br/>
            <a:r>
              <a:t>• backend/api/index.py and api/index.py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40480"/>
            <a:ext cx="5120640" cy="15544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400" b="0">
                <a:solidFill>
                  <a:srgbClr val="273445"/>
                </a:solidFill>
                <a:latin typeface="Aptos"/>
              </a:defRPr>
            </a:pPr>
            <a:r>
              <a:t>LIVE PROOF</a:t>
            </a:r>
            <a:br/>
            <a:r>
              <a:t>1. Submit test data.</a:t>
            </a:r>
            <a:br/>
            <a:r>
              <a:t>2. Find the corresponding Supabase row.</a:t>
            </a:r>
            <a:br/>
            <a:r>
              <a:t>3. Refresh/revisit the app to verify retrieval.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897880"/>
            <a:ext cx="10515600" cy="2743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DB8933"/>
                </a:solidFill>
                <a:latin typeface="Aptos"/>
              </a:defRPr>
            </a:pPr>
            <a:r>
              <a:t>Important: trace the actual request path; some operations may call Supabase directly rather than through FastAPI.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04 • DEVELOPMENT PROGRESS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What changed since Assessment 1?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Use before-and-after evidence from the earlier submission and current repository.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6:10–6:55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52044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828800"/>
            <a:ext cx="73152" cy="224028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8424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USER EXPERIENCE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95728"/>
            <a:ext cx="3172968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What changed in navigation, forms, profile pages or job discovery?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828800"/>
            <a:ext cx="352044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828800"/>
            <a:ext cx="73152" cy="224028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8424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FUNCTIONALITY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95728"/>
            <a:ext cx="3172968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Which workflows are now working and which have database support?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828800"/>
            <a:ext cx="3520440" cy="224028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828800"/>
            <a:ext cx="73152" cy="224028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98424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395728"/>
            <a:ext cx="3172968" cy="158191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Show the deployed application and explain the Vercel setup where relevant.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800600"/>
            <a:ext cx="1051560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637386"/>
                </a:solidFill>
                <a:latin typeface="Aptos"/>
              </a:defRPr>
            </a:pPr>
            <a:r>
              <a:t>Use actual screenshots, commits or working examples. Do not describe a feature as new unless you can verify that it was added.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05 • CRITICAL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Risks of vibe coding in ProxiWork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Discuss risks grounded in your front-end services, authentication and data flows.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6:55–8:15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69164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691640"/>
            <a:ext cx="73152" cy="114300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84708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Efficiency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25856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Duplicated page or service logic can create extra work and inconsistent behaviour.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69164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691640"/>
            <a:ext cx="73152" cy="114300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84708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Flexibility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25856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Fixed profile fields or tightly coupled workflows may make future changes harder.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10896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85800" y="3108960"/>
            <a:ext cx="73152" cy="114300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" y="326440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Maintainability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" y="367588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Unclear generated code and dependencies can make defects difficult to trace.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10896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108960"/>
            <a:ext cx="73152" cy="1143000"/>
          </a:xfrm>
          <a:prstGeom prst="rect">
            <a:avLst/>
          </a:prstGeom>
          <a:solidFill>
            <a:srgbClr val="DB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26440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Security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367588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Weak authorisation or database rules could expose private job-seeker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52628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85800" y="4526280"/>
            <a:ext cx="73152" cy="1143000"/>
          </a:xfrm>
          <a:prstGeom prst="rect">
            <a:avLst/>
          </a:prstGeom>
          <a:solidFill>
            <a:srgbClr val="DB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468172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" y="509320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CV parsing, validation or error handling may fail on unexpected inputs.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526280"/>
            <a:ext cx="5257800" cy="11430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526280"/>
            <a:ext cx="73152" cy="1143000"/>
          </a:xfrm>
          <a:prstGeom prst="rect">
            <a:avLst/>
          </a:prstGeom>
          <a:solidFill>
            <a:srgbClr val="DB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4681728"/>
            <a:ext cx="49103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1">
                <a:solidFill>
                  <a:srgbClr val="132748"/>
                </a:solidFill>
                <a:latin typeface="Aptos"/>
              </a:defRPr>
            </a:pPr>
            <a:r>
              <a:t>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5093208"/>
            <a:ext cx="4910328" cy="4846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273445"/>
                </a:solidFill>
                <a:latin typeface="Aptos"/>
              </a:defRPr>
            </a:pPr>
            <a:r>
              <a:t>A successful UI path does not prove API and database access are secure.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06 • MITIGATION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Conventional coding, testing and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AI-generated code should be treated as a draft that needs engineering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8:15–9:30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35204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73152" cy="233172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CODE QUALITY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2350008"/>
            <a:ext cx="3172968" cy="16733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Refactor duplicated logic</a:t>
            </a:r>
            <a:br/>
            <a:r>
              <a:t>• Separate UI, API and data access</a:t>
            </a:r>
            <a:br/>
            <a:r>
              <a:t>• Add input validation and clear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73152" cy="233172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TESTING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50008"/>
            <a:ext cx="3172968" cy="16733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Unit-test services and endpoints</a:t>
            </a:r>
            <a:br/>
            <a:r>
              <a:t>• Integration-test database operations</a:t>
            </a:r>
            <a:br/>
            <a:r>
              <a:t>• Test invalid inputs and failed requests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01000" y="1783080"/>
            <a:ext cx="3520440" cy="233172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01000" y="1783080"/>
            <a:ext cx="73152" cy="233172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02168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DEVELOPMENT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350008"/>
            <a:ext cx="3172968" cy="1673351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Use GitHub history and reviews</a:t>
            </a:r>
            <a:br/>
            <a:r>
              <a:t>• Check dependencies and secrets</a:t>
            </a:r>
            <a:br/>
            <a:r>
              <a:t>• Document design and decisions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70916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0">
                <a:solidFill>
                  <a:srgbClr val="637386"/>
                </a:solidFill>
                <a:latin typeface="Aptos"/>
              </a:defRPr>
            </a:pPr>
            <a:r>
              <a:t>ProxiWork example: test that profile/job data remains correct through submission, storage, retrieval and editing.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07 • ETHICS AND CYBERSECURITY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Protect users and their employment information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Connect each risk to a practical control and be clear about what is implemented versus proposed.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9:30–11:00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737360"/>
          <a:ext cx="1097280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840480"/>
                <a:gridCol w="5303520"/>
              </a:tblGrid>
              <a:tr h="64770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ISSUE</a:t>
                      </a:r>
                    </a:p>
                  </a:txBody>
                  <a:tcPr>
                    <a:solidFill>
                      <a:srgbClr val="13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POTENTIAL IMPACT</a:t>
                      </a:r>
                    </a:p>
                  </a:txBody>
                  <a:tcPr>
                    <a:solidFill>
                      <a:srgbClr val="13274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13274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Privacy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CVs and work histories may expose personal information.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Minimise data; explain purpose and retention.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Authentication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A user may access another user's profile.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Enforce server-side identity and authorisation.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Database access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Incorrect permissions may expose records.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Configure and test Supabase RLS policies.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Document storage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Uploaded CVs may be publicly accessible.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Use private storage and restrictive access.</a:t>
                      </a:r>
                    </a:p>
                  </a:txBody>
                  <a:tcPr marL="73152" marR="54864" marT="36576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Accuracy and fairness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Incorrect extracted details may affect opportunities.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73445"/>
                          </a:solidFill>
                        </a:defRPr>
                      </a:pPr>
                      <a:r>
                        <a:t>Let users review and correct extracted fields.</a:t>
                      </a:r>
                    </a:p>
                  </a:txBody>
                  <a:tcPr marL="73152" marR="54864" marT="36576">
                    <a:solidFill>
                      <a:srgbClr val="EFF5FC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31520" y="5852160"/>
            <a:ext cx="1078992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637386"/>
                </a:solidFill>
                <a:latin typeface="Aptos"/>
              </a:defRPr>
            </a:pPr>
            <a:r>
              <a:t>Reference: OWASP Top 10 and OAIC Australian Privacy Principles, where legally applicable.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8778240" cy="2560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000" b="1">
                <a:solidFill>
                  <a:srgbClr val="2668BE"/>
                </a:solidFill>
                <a:latin typeface="Aptos"/>
              </a:defRPr>
            </a:pPr>
            <a:r>
              <a:t>08 • EVALUATION AND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972800" cy="50292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2800" b="1">
                <a:solidFill>
                  <a:srgbClr val="132748"/>
                </a:solidFill>
                <a:latin typeface="Aptos"/>
              </a:defRPr>
            </a:pPr>
            <a:r>
              <a:t>Current strengths, limitations and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15568"/>
            <a:ext cx="10972800" cy="384048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637386"/>
                </a:solidFill>
                <a:latin typeface="Aptos"/>
              </a:defRPr>
            </a:pPr>
            <a:r>
              <a:t>Separate demonstrated capabilities from proposed future improvements.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378440" y="320040"/>
            <a:ext cx="1234440" cy="365760"/>
          </a:xfrm>
          <a:prstGeom prst="roundRect">
            <a:avLst/>
          </a:prstGeom>
          <a:solidFill>
            <a:srgbClr val="EFF5FC"/>
          </a:solidFill>
          <a:ln>
            <a:solidFill>
              <a:srgbClr val="DCEA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68BE"/>
                </a:solidFill>
                <a:latin typeface="Aptos"/>
              </a:defRPr>
            </a:pPr>
            <a:r>
              <a:t>11:00–12:35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73952"/>
            <a:ext cx="365760" cy="1828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 algn="r">
              <a:defRPr sz="900" b="0">
                <a:solidFill>
                  <a:srgbClr val="637386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83080"/>
            <a:ext cx="3520440" cy="29718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73152" cy="297180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STRENGTHS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50008"/>
            <a:ext cx="3172968" cy="2313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Deployed user interface</a:t>
            </a:r>
            <a:br/>
            <a:r>
              <a:t>• Job-seeker and employer areas</a:t>
            </a:r>
            <a:br/>
            <a:r>
              <a:t>• Organised service modules</a:t>
            </a:r>
            <a:br/>
            <a:r>
              <a:t>• Potential to validate core workflows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783080"/>
            <a:ext cx="3520440" cy="29718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1783080"/>
            <a:ext cx="73152" cy="2971800"/>
          </a:xfrm>
          <a:prstGeom prst="rect">
            <a:avLst/>
          </a:prstGeom>
          <a:solidFill>
            <a:srgbClr val="DB89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44568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LIMITATIONS TO VERIFY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2350008"/>
            <a:ext cx="3172968" cy="2313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Incomplete or untested workflows</a:t>
            </a:r>
            <a:br/>
            <a:r>
              <a:t>• Security and access-control gaps</a:t>
            </a:r>
            <a:br/>
            <a:r>
              <a:t>• Data validation and error handling</a:t>
            </a:r>
            <a:br/>
            <a:r>
              <a:t>• Accessibility and performance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783080"/>
            <a:ext cx="3520440" cy="29718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783080"/>
            <a:ext cx="73152" cy="297180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7888" y="1938528"/>
            <a:ext cx="317296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700" b="1">
                <a:solidFill>
                  <a:srgbClr val="132748"/>
                </a:solidFill>
                <a:latin typeface="Aptos"/>
              </a:defRPr>
            </a:pPr>
            <a:r>
              <a:t>FUTURE PRIORITIES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47888" y="2350008"/>
            <a:ext cx="3172968" cy="23134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• Automated testing and security review</a:t>
            </a:r>
            <a:br/>
            <a:r>
              <a:t>• Improve profile/CV validation</a:t>
            </a:r>
            <a:br/>
            <a:r>
              <a:t>• Usability testing with representative users</a:t>
            </a:r>
            <a:br/>
            <a:r>
              <a:t>• Monitoring, backups and scalability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64008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500" b="0">
                <a:solidFill>
                  <a:srgbClr val="637386"/>
                </a:solidFill>
                <a:latin typeface="Aptos"/>
              </a:defRPr>
            </a:pPr>
            <a:r>
              <a:t>Evaluate against Assessment 1: does the MVP meet the core user need, what evidence supports that conclusion, and what remains unproven?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74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85800"/>
            <a:ext cx="10789920" cy="3657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1">
                <a:solidFill>
                  <a:srgbClr val="48B1D2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25880"/>
            <a:ext cx="10515600" cy="82296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Aptos"/>
              </a:defRPr>
            </a:pPr>
            <a:r>
              <a:t>A functional MVP is a starting point—not the finish 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27432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743200"/>
            <a:ext cx="73152" cy="1600200"/>
          </a:xfrm>
          <a:prstGeom prst="rect">
            <a:avLst/>
          </a:prstGeom>
          <a:solidFill>
            <a:srgbClr val="2668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898648"/>
            <a:ext cx="30815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310128"/>
            <a:ext cx="308152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Demonstrate the core ProxiWork workflow and data handling.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7432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2743200"/>
            <a:ext cx="73152" cy="1600200"/>
          </a:xfrm>
          <a:prstGeom prst="rect">
            <a:avLst/>
          </a:prstGeom>
          <a:solidFill>
            <a:srgbClr val="48B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2898648"/>
            <a:ext cx="30815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RESPONSIBLE BUILD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3310128"/>
            <a:ext cx="308152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Validate AI-generated code through testing, review and security controls.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1600200"/>
          </a:xfrm>
          <a:prstGeom prst="roundRect">
            <a:avLst/>
          </a:prstGeom>
          <a:solidFill>
            <a:srgbClr val="EFF5FC"/>
          </a:solidFill>
          <a:ln>
            <a:solidFill>
              <a:srgbClr val="DAE5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01000" y="2743200"/>
            <a:ext cx="73152" cy="1600200"/>
          </a:xfrm>
          <a:prstGeom prst="rect">
            <a:avLst/>
          </a:prstGeom>
          <a:solidFill>
            <a:srgbClr val="2A8C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2898648"/>
            <a:ext cx="3081528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600" b="1">
                <a:solidFill>
                  <a:srgbClr val="132748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3310128"/>
            <a:ext cx="3081528" cy="941832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300" b="0">
                <a:solidFill>
                  <a:srgbClr val="273445"/>
                </a:solidFill>
                <a:latin typeface="Aptos"/>
              </a:defRPr>
            </a:pPr>
            <a:r>
              <a:t>Prioritise user protection, reliability and evidence-led improvements.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</p:spPr>
        <p:txBody>
          <a:bodyPr wrap="square" lIns="54864" rIns="54864" tIns="54864" bIns="54864" anchor="t">
            <a:spAutoFit/>
          </a:bodyPr>
          <a:lstStyle/>
          <a:p>
            <a:pPr>
              <a:defRPr sz="1200" b="0">
                <a:solidFill>
                  <a:srgbClr val="D0E0F4"/>
                </a:solidFill>
                <a:latin typeface="Aptos"/>
              </a:defRPr>
            </a:pPr>
            <a:r>
              <a:t>ProxiWork • Assessment 3 • MVP demonstration and critical evaluation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